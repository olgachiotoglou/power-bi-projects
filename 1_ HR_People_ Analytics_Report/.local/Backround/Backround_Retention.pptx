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61" r:id="rId4"/>
    <p:sldId id="262" r:id="rId5"/>
    <p:sldId id="263" r:id="rId6"/>
    <p:sldId id="257" r:id="rId7"/>
    <p:sldId id="258" r:id="rId8"/>
    <p:sldId id="259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480A7"/>
    <a:srgbClr val="663466"/>
    <a:srgbClr val="FAA93A"/>
    <a:srgbClr val="6E98B5"/>
    <a:srgbClr val="EC64A9"/>
    <a:srgbClr val="3F213F"/>
    <a:srgbClr val="364B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6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20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21FCA-6DFE-58C2-EEB9-E6A6161243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23AD13-45FF-4AA2-010F-1E1EA0BA85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7858AC-2C2B-816E-79C5-95F238A68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C647D-7AAE-4044-8360-8C8834614E75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7B0C8B-0301-7C20-B68B-FFC10ECC0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1EE30F-C139-126D-63B9-A8A8081D1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C7CBE-F8F3-4E99-AE4D-2D2ACC3F25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9553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6D40C-061E-D9F2-07DC-CCB1E513B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338F90-A6C1-7620-9A03-8D452D12AA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2DDFDC-D89E-09AD-A395-75068DD53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C647D-7AAE-4044-8360-8C8834614E75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C8EA8-227B-B9BF-10F1-BF25AA72C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3D4ED2-AF1D-82EA-5106-D9F224F67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C7CBE-F8F3-4E99-AE4D-2D2ACC3F25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8681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0314C-6994-FC5E-9513-54F212B52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C62A6E-A304-4E0F-BFC2-32553AABBF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A28D67-F7D0-FA10-3172-796084D2C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C647D-7AAE-4044-8360-8C8834614E75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15D091-11CC-E89F-C568-D4BAD5A13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23AB9D-179C-6FB7-117B-5381669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C7CBE-F8F3-4E99-AE4D-2D2ACC3F25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5019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A9307-932F-FBB4-2257-3EA38B799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C79942-845B-413A-8EC5-12C1CE9E37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58BC0A-22FF-A610-11C6-7C2C0F0DD4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753561-6665-A774-723B-AAA325112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C647D-7AAE-4044-8360-8C8834614E75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43FC8F-5343-876E-F378-482EC8C13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8443E4-47C3-E69D-9067-F9A9C4723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C7CBE-F8F3-4E99-AE4D-2D2ACC3F25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60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0B2FC-B28D-C41E-17F5-3BC41C44A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8292BE-2BE1-96E6-0CA6-55EC432267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4D9AFC-BA98-D9DB-6129-7F34286DC4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D4290C-71F0-E4A5-F738-1A525B4C2C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93346C-B4C1-D800-8C0F-4ECBE6AF33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3D99D1-8571-A97F-FB0F-857ACA567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C647D-7AAE-4044-8360-8C8834614E75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1D9F331-C5E6-4F5A-FD31-E6282A80F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AF1332-9787-EF99-5857-EE988488E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C7CBE-F8F3-4E99-AE4D-2D2ACC3F25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7754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D7061-F742-5E08-B839-F45A1E8382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7AD19A-917C-A6B6-0AB1-D8012D4C5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C647D-7AAE-4044-8360-8C8834614E75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092BF1-F14A-C294-BFB0-E6C5CCCD6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EDD608-7563-53F7-6225-07F45EF49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C7CBE-F8F3-4E99-AE4D-2D2ACC3F25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5208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BE13E8-D895-DB3D-D967-D49AFF574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C647D-7AAE-4044-8360-8C8834614E75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E56E26-57F6-AC99-76D5-C6E7CE939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75B601-214A-5DC1-5F67-1696065BD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C7CBE-F8F3-4E99-AE4D-2D2ACC3F25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3736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7FC19-867C-5981-BE0B-BFBF1ED6A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3BF1A6-0332-0266-8522-398B29A6AD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E719A5-FC77-7948-55BD-FA938D5934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298068-59D2-D9AD-CAC3-6847B41CF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C647D-7AAE-4044-8360-8C8834614E75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AC0999-B9B5-6E07-E787-79ECC469D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042A9-4C4B-768F-B073-6AB953DA9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C7CBE-F8F3-4E99-AE4D-2D2ACC3F25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1008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5CC4E-7CFB-1FF6-364D-DEBF40777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DAF94EF-D787-B23D-361E-BA44D6807C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B91F52-B1ED-7EB4-75C9-4EA1732CBB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FEBA06-1B7C-43EB-C612-4B0FD6FD5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C647D-7AAE-4044-8360-8C8834614E75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B7FE8D-738F-D14F-3F3D-99F543C71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2A987B-EFE1-97DE-C5EA-77EFE5937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C7CBE-F8F3-4E99-AE4D-2D2ACC3F25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2653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80643-2940-BD1F-9E58-85D82480E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CB6D63-12F6-06B9-21AF-88854903DD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A673B7-A7FB-3092-B4F1-67F2FE806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C647D-7AAE-4044-8360-8C8834614E75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DE1817-9D04-FC8E-3ACA-4FCB15DFA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07DAFD-D556-C913-A51F-D3BD5FCCE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C7CBE-F8F3-4E99-AE4D-2D2ACC3F25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1742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5C99D05-5263-F90C-B062-682FF75D24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F362C5-2C66-E3E2-3070-315F90711D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85DAE-1E2E-D2A5-F619-E92E03400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C647D-7AAE-4044-8360-8C8834614E75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EF16A6-5742-5813-293F-08B4E8C83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5073AF-A848-7D4E-7EE1-222E64615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C7CBE-F8F3-4E99-AE4D-2D2ACC3F25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532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ED1FA1-203E-B7BB-509C-1A35CAAF4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7CCADC-7CA1-7078-2F57-29B2B775E3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6AEC4E-DF53-3378-D168-8B0DB42442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FC647D-7AAE-4044-8360-8C8834614E75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4182EC-E92E-70A3-7CC5-5A83220D38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AC6D5B-EC1A-27A3-CB06-92A1C91B5A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6C7CBE-F8F3-4E99-AE4D-2D2ACC3F25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1415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g"/><Relationship Id="rId3" Type="http://schemas.openxmlformats.org/officeDocument/2006/relationships/hyperlink" Target="https://stablediffusionweb.com/prompts/human-resource-acquisition" TargetMode="External"/><Relationship Id="rId7" Type="http://schemas.openxmlformats.org/officeDocument/2006/relationships/hyperlink" Target="https://www.electriccarscheme.com/blog/calculate-employee-turnover-rate-with-our-step-by-step-guide-discover-proven-strategies-to-reduce-turnover-using-low-cost-employee-benefits-like-ev-salary-sacrifice-schemes?building-a-successful-electric-car-scheme=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g"/><Relationship Id="rId5" Type="http://schemas.microsoft.com/office/2007/relationships/hdphoto" Target="../media/hdphoto1.wdp"/><Relationship Id="rId4" Type="http://schemas.openxmlformats.org/officeDocument/2006/relationships/image" Target="../media/image2.png"/><Relationship Id="rId9" Type="http://schemas.openxmlformats.org/officeDocument/2006/relationships/hyperlink" Target="https://citronhygiene.com/fr/ressources/why-employee-retention-matters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66E565E-4212-4ABA-1B64-5DA0FC6A230B}"/>
              </a:ext>
            </a:extLst>
          </p:cNvPr>
          <p:cNvSpPr/>
          <p:nvPr/>
        </p:nvSpPr>
        <p:spPr>
          <a:xfrm>
            <a:off x="2923232" y="695931"/>
            <a:ext cx="914400" cy="914400"/>
          </a:xfrm>
          <a:prstGeom prst="roundRect">
            <a:avLst/>
          </a:prstGeom>
          <a:solidFill>
            <a:srgbClr val="364B5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30E8452-6D7F-61CA-FAA6-A3AC36936A46}"/>
              </a:ext>
            </a:extLst>
          </p:cNvPr>
          <p:cNvSpPr/>
          <p:nvPr/>
        </p:nvSpPr>
        <p:spPr>
          <a:xfrm>
            <a:off x="4237473" y="1983540"/>
            <a:ext cx="914400" cy="914400"/>
          </a:xfrm>
          <a:prstGeom prst="roundRect">
            <a:avLst/>
          </a:prstGeom>
          <a:solidFill>
            <a:srgbClr val="FAA93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5575D1F-B2AD-6B5D-6710-2062A365D533}"/>
              </a:ext>
            </a:extLst>
          </p:cNvPr>
          <p:cNvSpPr/>
          <p:nvPr/>
        </p:nvSpPr>
        <p:spPr>
          <a:xfrm>
            <a:off x="5528208" y="667154"/>
            <a:ext cx="914400" cy="914400"/>
          </a:xfrm>
          <a:prstGeom prst="roundRect">
            <a:avLst/>
          </a:prstGeom>
          <a:solidFill>
            <a:srgbClr val="6634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E201956-C939-481D-6120-F30CB84BB929}"/>
              </a:ext>
            </a:extLst>
          </p:cNvPr>
          <p:cNvSpPr/>
          <p:nvPr/>
        </p:nvSpPr>
        <p:spPr>
          <a:xfrm>
            <a:off x="6678983" y="695931"/>
            <a:ext cx="914400" cy="914400"/>
          </a:xfrm>
          <a:prstGeom prst="roundRect">
            <a:avLst/>
          </a:prstGeom>
          <a:solidFill>
            <a:srgbClr val="3F213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BC65CEC-3E95-7B24-0F2A-FC00BA25C9DB}"/>
              </a:ext>
            </a:extLst>
          </p:cNvPr>
          <p:cNvSpPr/>
          <p:nvPr/>
        </p:nvSpPr>
        <p:spPr>
          <a:xfrm>
            <a:off x="2923232" y="1983540"/>
            <a:ext cx="914400" cy="914400"/>
          </a:xfrm>
          <a:prstGeom prst="roundRect">
            <a:avLst/>
          </a:prstGeom>
          <a:solidFill>
            <a:srgbClr val="6E98B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D41F734-81D7-C6A2-9ECA-8143FF70489A}"/>
              </a:ext>
            </a:extLst>
          </p:cNvPr>
          <p:cNvSpPr/>
          <p:nvPr/>
        </p:nvSpPr>
        <p:spPr>
          <a:xfrm>
            <a:off x="4234363" y="667154"/>
            <a:ext cx="914400" cy="914400"/>
          </a:xfrm>
          <a:prstGeom prst="roundRect">
            <a:avLst/>
          </a:prstGeom>
          <a:solidFill>
            <a:srgbClr val="C480A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61EE102-F862-FBFA-97C1-FD85C50B58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73780" y="3429000"/>
            <a:ext cx="1421756" cy="190655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FAEAECF-121F-B2AF-07D5-DC5CB71C8D5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735102" y="3429000"/>
            <a:ext cx="1421756" cy="190655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A65AF2A-BD37-ACB1-5B95-F49475973AE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3380432" y="3429000"/>
            <a:ext cx="1421756" cy="191007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7741DC0-7D30-EB85-61CD-B408A29FC60B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4890272" y="3429000"/>
            <a:ext cx="1421756" cy="191007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9DA3E15-4B1B-57B2-7420-55859EC4804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>
            <a:off x="6442608" y="3416315"/>
            <a:ext cx="1421756" cy="193192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48AF1F0-8941-A5AA-09EA-650D7E40CDE7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>
            <a:off x="8087938" y="3429000"/>
            <a:ext cx="1421756" cy="1931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03924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3232">
              <a:srgbClr val="C480A7"/>
            </a:gs>
            <a:gs pos="96000">
              <a:srgbClr val="FAA93A"/>
            </a:gs>
            <a:gs pos="74000">
              <a:srgbClr val="C480A7"/>
            </a:gs>
            <a:gs pos="89000">
              <a:srgbClr val="C480A7"/>
            </a:gs>
            <a:gs pos="4587">
              <a:srgbClr val="FAA93A"/>
            </a:gs>
            <a:gs pos="15000">
              <a:srgbClr val="663466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398848-A32A-F8FE-5527-9AD9D8DDF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5F6E9CC-1B51-FF9E-A596-6B7B448FA6A7}"/>
              </a:ext>
            </a:extLst>
          </p:cNvPr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gradFill>
            <a:gsLst>
              <a:gs pos="0">
                <a:srgbClr val="C480A7"/>
              </a:gs>
              <a:gs pos="74000">
                <a:srgbClr val="C480A7"/>
              </a:gs>
              <a:gs pos="20202">
                <a:srgbClr val="70A4C3"/>
              </a:gs>
              <a:gs pos="83000">
                <a:srgbClr val="C480A7"/>
              </a:gs>
              <a:gs pos="100000">
                <a:srgbClr val="6E98B5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365A44C-B658-4A20-516C-59672BBD8567}"/>
              </a:ext>
            </a:extLst>
          </p:cNvPr>
          <p:cNvSpPr/>
          <p:nvPr/>
        </p:nvSpPr>
        <p:spPr>
          <a:xfrm>
            <a:off x="0" y="457200"/>
            <a:ext cx="12192000" cy="62204"/>
          </a:xfrm>
          <a:prstGeom prst="rect">
            <a:avLst/>
          </a:prstGeom>
          <a:solidFill>
            <a:srgbClr val="6E98B5"/>
          </a:solidFill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2C3427B-90E8-A08D-6874-084C9E063DA8}"/>
              </a:ext>
            </a:extLst>
          </p:cNvPr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gradFill>
            <a:gsLst>
              <a:gs pos="0">
                <a:srgbClr val="C480A7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5">
                  <a:lumMod val="60000"/>
                  <a:lumOff val="40000"/>
                </a:schemeClr>
              </a:gs>
              <a:gs pos="100000">
                <a:srgbClr val="6E98B5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D59200F-C382-4DB9-F2E9-119086E7AE11}"/>
              </a:ext>
            </a:extLst>
          </p:cNvPr>
          <p:cNvSpPr/>
          <p:nvPr/>
        </p:nvSpPr>
        <p:spPr>
          <a:xfrm>
            <a:off x="0" y="6369698"/>
            <a:ext cx="12192000" cy="62204"/>
          </a:xfrm>
          <a:prstGeom prst="rect">
            <a:avLst/>
          </a:prstGeom>
          <a:solidFill>
            <a:srgbClr val="6E98B5"/>
          </a:solidFill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8B91BD-336C-08F9-5C42-7F95341EC5A2}"/>
              </a:ext>
            </a:extLst>
          </p:cNvPr>
          <p:cNvSpPr txBox="1"/>
          <p:nvPr/>
        </p:nvSpPr>
        <p:spPr>
          <a:xfrm>
            <a:off x="830424" y="-4469"/>
            <a:ext cx="14742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Bahnschrift Condensed" panose="020B0502040204020203" pitchFamily="34" charset="0"/>
                <a:cs typeface="AngsanaUPC" panose="020B0502040204020203" pitchFamily="18" charset="-34"/>
              </a:rPr>
              <a:t>HR Report</a:t>
            </a:r>
          </a:p>
        </p:txBody>
      </p:sp>
      <p:pic>
        <p:nvPicPr>
          <p:cNvPr id="10" name="Graphic 9" descr="Children with solid fill">
            <a:extLst>
              <a:ext uri="{FF2B5EF4-FFF2-40B4-BE49-F238E27FC236}">
                <a16:creationId xmlns:a16="http://schemas.microsoft.com/office/drawing/2014/main" id="{F99D1573-746E-C701-AA3E-701DFF54AD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-115078"/>
            <a:ext cx="830424" cy="721568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sp>
        <p:nvSpPr>
          <p:cNvPr id="19" name="Rectangle: Top Corners Rounded 18">
            <a:extLst>
              <a:ext uri="{FF2B5EF4-FFF2-40B4-BE49-F238E27FC236}">
                <a16:creationId xmlns:a16="http://schemas.microsoft.com/office/drawing/2014/main" id="{81FA1560-DAD4-BCF4-217D-A2494EBD1D3F}"/>
              </a:ext>
            </a:extLst>
          </p:cNvPr>
          <p:cNvSpPr/>
          <p:nvPr/>
        </p:nvSpPr>
        <p:spPr>
          <a:xfrm rot="16200000">
            <a:off x="6829426" y="838200"/>
            <a:ext cx="5219699" cy="5505447"/>
          </a:xfrm>
          <a:prstGeom prst="round2SameRect">
            <a:avLst>
              <a:gd name="adj1" fmla="val 8820"/>
              <a:gd name="adj2" fmla="val 0"/>
            </a:avLst>
          </a:prstGeom>
          <a:solidFill>
            <a:srgbClr val="FAA93A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0E6673-699A-77B2-021E-EEEEA216BB64}"/>
              </a:ext>
            </a:extLst>
          </p:cNvPr>
          <p:cNvSpPr txBox="1"/>
          <p:nvPr/>
        </p:nvSpPr>
        <p:spPr>
          <a:xfrm>
            <a:off x="172616" y="1258684"/>
            <a:ext cx="6069563" cy="44461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dirty="0">
                <a:solidFill>
                  <a:schemeClr val="bg1"/>
                </a:solidFill>
                <a:latin typeface="Bahnschrift Condensed" panose="020B0502040204020203" pitchFamily="34" charset="0"/>
              </a:rPr>
              <a:t>Raw HR data is just noise until it’s visualized. </a:t>
            </a:r>
          </a:p>
          <a:p>
            <a:pPr>
              <a:lnSpc>
                <a:spcPct val="200000"/>
              </a:lnSpc>
            </a:pPr>
            <a:r>
              <a:rPr lang="en-US" dirty="0">
                <a:solidFill>
                  <a:schemeClr val="bg1"/>
                </a:solidFill>
                <a:latin typeface="Bahnschrift Condensed" panose="020B0502040204020203" pitchFamily="34" charset="0"/>
              </a:rPr>
              <a:t>This HR Analytics Report transforms complex workforce dynamics into a clear, interactive narrative. </a:t>
            </a:r>
          </a:p>
          <a:p>
            <a:pPr>
              <a:lnSpc>
                <a:spcPct val="200000"/>
              </a:lnSpc>
            </a:pPr>
            <a:r>
              <a:rPr lang="en-US" dirty="0">
                <a:solidFill>
                  <a:schemeClr val="bg1"/>
                </a:solidFill>
                <a:latin typeface="Bahnschrift Condensed" panose="020B0502040204020203" pitchFamily="34" charset="0"/>
              </a:rPr>
              <a:t>By mapping headcount trends, retention and turnover drivers, we’re not just looking at where the company is—we’re predicting where it needs to go. </a:t>
            </a:r>
            <a:br>
              <a:rPr lang="en-US" sz="1800" b="0" i="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ahnschrift Condensed" panose="020B0502040204020203" pitchFamily="34" charset="0"/>
              </a:rPr>
            </a:br>
            <a:r>
              <a:rPr lang="en-US" sz="1800" b="0" i="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ahnschrift Condensed" panose="020B0502040204020203" pitchFamily="34" charset="0"/>
              </a:rPr>
              <a:t>Navigating the vast seas of HR analytics has never been easier, empowering organizations to optimize their workforce and foster a culture of engagement and growth.</a:t>
            </a:r>
            <a:r>
              <a:rPr lang="en-US" dirty="0"/>
              <a:t> </a:t>
            </a:r>
            <a:endParaRPr lang="en-US" sz="1800" dirty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Bahnschrift Condensed" panose="020B0502040204020203" pitchFamily="34" charset="0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714F905-02E8-07ED-12AA-0D449F80C95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9535" y="6369698"/>
            <a:ext cx="1452464" cy="488302"/>
          </a:xfrm>
          <a:prstGeom prst="rect">
            <a:avLst/>
          </a:prstGeom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39105263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3232">
              <a:srgbClr val="C480A7"/>
            </a:gs>
            <a:gs pos="96000">
              <a:srgbClr val="FAA93A"/>
            </a:gs>
            <a:gs pos="74000">
              <a:srgbClr val="C480A7"/>
            </a:gs>
            <a:gs pos="89000">
              <a:srgbClr val="C480A7"/>
            </a:gs>
            <a:gs pos="4587">
              <a:srgbClr val="FAA93A"/>
            </a:gs>
            <a:gs pos="15000">
              <a:srgbClr val="663466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007E07-586B-753C-5FFB-1C626D7B1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2856F10-3303-B306-B79B-15DE67BA4FFA}"/>
              </a:ext>
            </a:extLst>
          </p:cNvPr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gradFill>
            <a:gsLst>
              <a:gs pos="0">
                <a:srgbClr val="C480A7"/>
              </a:gs>
              <a:gs pos="74000">
                <a:srgbClr val="C480A7"/>
              </a:gs>
              <a:gs pos="20202">
                <a:srgbClr val="70A4C3"/>
              </a:gs>
              <a:gs pos="83000">
                <a:srgbClr val="C480A7"/>
              </a:gs>
              <a:gs pos="100000">
                <a:srgbClr val="6E98B5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8FDD28B-8FEE-6E66-1653-6B05569D6B74}"/>
              </a:ext>
            </a:extLst>
          </p:cNvPr>
          <p:cNvSpPr/>
          <p:nvPr/>
        </p:nvSpPr>
        <p:spPr>
          <a:xfrm>
            <a:off x="0" y="457200"/>
            <a:ext cx="12192000" cy="62204"/>
          </a:xfrm>
          <a:prstGeom prst="rect">
            <a:avLst/>
          </a:prstGeom>
          <a:solidFill>
            <a:srgbClr val="6E98B5"/>
          </a:solidFill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CF346F-2F11-7EA9-2510-310E7E3B17BD}"/>
              </a:ext>
            </a:extLst>
          </p:cNvPr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gradFill>
            <a:gsLst>
              <a:gs pos="0">
                <a:srgbClr val="C480A7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5">
                  <a:lumMod val="60000"/>
                  <a:lumOff val="40000"/>
                </a:schemeClr>
              </a:gs>
              <a:gs pos="100000">
                <a:srgbClr val="6E98B5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B5D87D4-1DE4-39B0-8762-E5964B7D1B68}"/>
              </a:ext>
            </a:extLst>
          </p:cNvPr>
          <p:cNvSpPr/>
          <p:nvPr/>
        </p:nvSpPr>
        <p:spPr>
          <a:xfrm>
            <a:off x="0" y="6369698"/>
            <a:ext cx="12192000" cy="62204"/>
          </a:xfrm>
          <a:prstGeom prst="rect">
            <a:avLst/>
          </a:prstGeom>
          <a:solidFill>
            <a:srgbClr val="6E98B5"/>
          </a:solidFill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1DDA5F-9B80-48DD-B13B-1377904D7A45}"/>
              </a:ext>
            </a:extLst>
          </p:cNvPr>
          <p:cNvSpPr txBox="1"/>
          <p:nvPr/>
        </p:nvSpPr>
        <p:spPr>
          <a:xfrm>
            <a:off x="830424" y="-4469"/>
            <a:ext cx="32283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Bahnschrift Condensed" panose="020B0502040204020203" pitchFamily="34" charset="0"/>
                <a:cs typeface="AngsanaUPC" panose="020B0502040204020203" pitchFamily="18" charset="-34"/>
              </a:rPr>
              <a:t>HR Report: Headcount</a:t>
            </a:r>
          </a:p>
        </p:txBody>
      </p:sp>
      <p:pic>
        <p:nvPicPr>
          <p:cNvPr id="10" name="Graphic 9" descr="Children with solid fill">
            <a:extLst>
              <a:ext uri="{FF2B5EF4-FFF2-40B4-BE49-F238E27FC236}">
                <a16:creationId xmlns:a16="http://schemas.microsoft.com/office/drawing/2014/main" id="{3AE8E7B8-8129-3878-2080-D379BC6BF5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-115078"/>
            <a:ext cx="830424" cy="721568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sp>
        <p:nvSpPr>
          <p:cNvPr id="19" name="Rectangle: Top Corners Rounded 18">
            <a:extLst>
              <a:ext uri="{FF2B5EF4-FFF2-40B4-BE49-F238E27FC236}">
                <a16:creationId xmlns:a16="http://schemas.microsoft.com/office/drawing/2014/main" id="{E91EDD1D-534D-4D48-691F-45453F77D3CA}"/>
              </a:ext>
            </a:extLst>
          </p:cNvPr>
          <p:cNvSpPr/>
          <p:nvPr/>
        </p:nvSpPr>
        <p:spPr>
          <a:xfrm rot="16200000">
            <a:off x="6829426" y="838200"/>
            <a:ext cx="5219699" cy="5505447"/>
          </a:xfrm>
          <a:prstGeom prst="round2SameRect">
            <a:avLst>
              <a:gd name="adj1" fmla="val 8820"/>
              <a:gd name="adj2" fmla="val 0"/>
            </a:avLst>
          </a:prstGeom>
          <a:solidFill>
            <a:srgbClr val="FAA93A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47D7E2FC-2119-2FF7-5D68-A2DD88156B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9535" y="6369698"/>
            <a:ext cx="1452464" cy="488302"/>
          </a:xfrm>
          <a:prstGeom prst="rect">
            <a:avLst/>
          </a:prstGeom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24502157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3232">
              <a:srgbClr val="C480A7"/>
            </a:gs>
            <a:gs pos="96000">
              <a:srgbClr val="FAA93A"/>
            </a:gs>
            <a:gs pos="74000">
              <a:srgbClr val="C480A7"/>
            </a:gs>
            <a:gs pos="89000">
              <a:srgbClr val="C480A7"/>
            </a:gs>
            <a:gs pos="4587">
              <a:srgbClr val="FAA93A"/>
            </a:gs>
            <a:gs pos="15000">
              <a:srgbClr val="663466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D1499C-61FE-967E-1D8F-4FAB287DD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EF7B17D-78F5-8631-3F9E-39A0198643BA}"/>
              </a:ext>
            </a:extLst>
          </p:cNvPr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gradFill>
            <a:gsLst>
              <a:gs pos="0">
                <a:srgbClr val="C480A7"/>
              </a:gs>
              <a:gs pos="74000">
                <a:srgbClr val="C480A7"/>
              </a:gs>
              <a:gs pos="20202">
                <a:srgbClr val="70A4C3"/>
              </a:gs>
              <a:gs pos="83000">
                <a:srgbClr val="C480A7"/>
              </a:gs>
              <a:gs pos="100000">
                <a:srgbClr val="6E98B5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2546870-A9EE-E6B3-0B36-ECF740F0AF70}"/>
              </a:ext>
            </a:extLst>
          </p:cNvPr>
          <p:cNvSpPr/>
          <p:nvPr/>
        </p:nvSpPr>
        <p:spPr>
          <a:xfrm>
            <a:off x="0" y="457200"/>
            <a:ext cx="12192000" cy="62204"/>
          </a:xfrm>
          <a:prstGeom prst="rect">
            <a:avLst/>
          </a:prstGeom>
          <a:solidFill>
            <a:srgbClr val="6E98B5"/>
          </a:solidFill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E5CAFBE-2A57-0D33-DC2C-3DDC75318E34}"/>
              </a:ext>
            </a:extLst>
          </p:cNvPr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gradFill>
            <a:gsLst>
              <a:gs pos="0">
                <a:srgbClr val="C480A7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5">
                  <a:lumMod val="60000"/>
                  <a:lumOff val="40000"/>
                </a:schemeClr>
              </a:gs>
              <a:gs pos="100000">
                <a:srgbClr val="6E98B5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AC71538-B777-EDDE-2546-51C82DBB73CB}"/>
              </a:ext>
            </a:extLst>
          </p:cNvPr>
          <p:cNvSpPr/>
          <p:nvPr/>
        </p:nvSpPr>
        <p:spPr>
          <a:xfrm>
            <a:off x="0" y="6369698"/>
            <a:ext cx="12192000" cy="62204"/>
          </a:xfrm>
          <a:prstGeom prst="rect">
            <a:avLst/>
          </a:prstGeom>
          <a:solidFill>
            <a:srgbClr val="6E98B5"/>
          </a:solidFill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31F5FE-A948-83B0-97EC-C81F720946BE}"/>
              </a:ext>
            </a:extLst>
          </p:cNvPr>
          <p:cNvSpPr txBox="1"/>
          <p:nvPr/>
        </p:nvSpPr>
        <p:spPr>
          <a:xfrm>
            <a:off x="830424" y="-4469"/>
            <a:ext cx="42174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Bahnschrift Condensed" panose="020B0502040204020203" pitchFamily="34" charset="0"/>
                <a:cs typeface="AngsanaUPC" panose="020B0502040204020203" pitchFamily="18" charset="-34"/>
              </a:rPr>
              <a:t>HR Report: Employee Retention</a:t>
            </a:r>
          </a:p>
        </p:txBody>
      </p:sp>
      <p:pic>
        <p:nvPicPr>
          <p:cNvPr id="10" name="Graphic 9" descr="Children with solid fill">
            <a:extLst>
              <a:ext uri="{FF2B5EF4-FFF2-40B4-BE49-F238E27FC236}">
                <a16:creationId xmlns:a16="http://schemas.microsoft.com/office/drawing/2014/main" id="{8F6DC116-5E6A-3A07-7C19-889BE5259D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-115078"/>
            <a:ext cx="830424" cy="721568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sp>
        <p:nvSpPr>
          <p:cNvPr id="19" name="Rectangle: Top Corners Rounded 18">
            <a:extLst>
              <a:ext uri="{FF2B5EF4-FFF2-40B4-BE49-F238E27FC236}">
                <a16:creationId xmlns:a16="http://schemas.microsoft.com/office/drawing/2014/main" id="{9DAC24C9-281C-F16E-BDDB-A00115D64F0C}"/>
              </a:ext>
            </a:extLst>
          </p:cNvPr>
          <p:cNvSpPr/>
          <p:nvPr/>
        </p:nvSpPr>
        <p:spPr>
          <a:xfrm rot="16200000">
            <a:off x="6829426" y="838200"/>
            <a:ext cx="5219699" cy="5505447"/>
          </a:xfrm>
          <a:prstGeom prst="round2SameRect">
            <a:avLst>
              <a:gd name="adj1" fmla="val 8820"/>
              <a:gd name="adj2" fmla="val 0"/>
            </a:avLst>
          </a:prstGeom>
          <a:solidFill>
            <a:srgbClr val="FAA93A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96BC6ED2-A3E6-5AA2-BE4E-A487E2F1465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9535" y="6369698"/>
            <a:ext cx="1452464" cy="488302"/>
          </a:xfrm>
          <a:prstGeom prst="rect">
            <a:avLst/>
          </a:prstGeom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24409738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3232">
              <a:srgbClr val="C480A7"/>
            </a:gs>
            <a:gs pos="96000">
              <a:srgbClr val="FAA93A"/>
            </a:gs>
            <a:gs pos="74000">
              <a:srgbClr val="C480A7"/>
            </a:gs>
            <a:gs pos="89000">
              <a:srgbClr val="C480A7"/>
            </a:gs>
            <a:gs pos="4587">
              <a:srgbClr val="FAA93A"/>
            </a:gs>
            <a:gs pos="15000">
              <a:srgbClr val="663466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576F3A-D8D4-1CBB-C2CD-0D1A5EB5C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118F295-41CA-0DEE-8E73-D6B56A9FE008}"/>
              </a:ext>
            </a:extLst>
          </p:cNvPr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gradFill>
            <a:gsLst>
              <a:gs pos="0">
                <a:srgbClr val="C480A7"/>
              </a:gs>
              <a:gs pos="74000">
                <a:srgbClr val="C480A7"/>
              </a:gs>
              <a:gs pos="20202">
                <a:srgbClr val="70A4C3"/>
              </a:gs>
              <a:gs pos="83000">
                <a:srgbClr val="C480A7"/>
              </a:gs>
              <a:gs pos="100000">
                <a:srgbClr val="6E98B5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E8CE22D-26E4-E74E-E97F-8809477D0FFD}"/>
              </a:ext>
            </a:extLst>
          </p:cNvPr>
          <p:cNvSpPr/>
          <p:nvPr/>
        </p:nvSpPr>
        <p:spPr>
          <a:xfrm>
            <a:off x="0" y="457200"/>
            <a:ext cx="12192000" cy="62204"/>
          </a:xfrm>
          <a:prstGeom prst="rect">
            <a:avLst/>
          </a:prstGeom>
          <a:solidFill>
            <a:srgbClr val="6E98B5"/>
          </a:solidFill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68EFC56-F5F9-4F5E-673A-6D50582F0F2A}"/>
              </a:ext>
            </a:extLst>
          </p:cNvPr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gradFill>
            <a:gsLst>
              <a:gs pos="0">
                <a:srgbClr val="C480A7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5">
                  <a:lumMod val="60000"/>
                  <a:lumOff val="40000"/>
                </a:schemeClr>
              </a:gs>
              <a:gs pos="100000">
                <a:srgbClr val="6E98B5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6577B40-92DC-12B7-CFBC-E09D9D1F7FD6}"/>
              </a:ext>
            </a:extLst>
          </p:cNvPr>
          <p:cNvSpPr/>
          <p:nvPr/>
        </p:nvSpPr>
        <p:spPr>
          <a:xfrm>
            <a:off x="0" y="6369698"/>
            <a:ext cx="12192000" cy="62204"/>
          </a:xfrm>
          <a:prstGeom prst="rect">
            <a:avLst/>
          </a:prstGeom>
          <a:solidFill>
            <a:srgbClr val="6E98B5"/>
          </a:solidFill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9556D8-1F5A-07DD-AAC0-D89BCC3EB399}"/>
              </a:ext>
            </a:extLst>
          </p:cNvPr>
          <p:cNvSpPr txBox="1"/>
          <p:nvPr/>
        </p:nvSpPr>
        <p:spPr>
          <a:xfrm>
            <a:off x="830424" y="-4469"/>
            <a:ext cx="37695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Bahnschrift Condensed" panose="020B0502040204020203" pitchFamily="34" charset="0"/>
                <a:cs typeface="AngsanaUPC" panose="020B0502040204020203" pitchFamily="18" charset="-34"/>
              </a:rPr>
              <a:t>HR Report: Employee Turnover</a:t>
            </a:r>
          </a:p>
        </p:txBody>
      </p:sp>
      <p:pic>
        <p:nvPicPr>
          <p:cNvPr id="10" name="Graphic 9" descr="Children with solid fill">
            <a:extLst>
              <a:ext uri="{FF2B5EF4-FFF2-40B4-BE49-F238E27FC236}">
                <a16:creationId xmlns:a16="http://schemas.microsoft.com/office/drawing/2014/main" id="{1F52B438-40CB-3EA6-423C-E7F54F4D4F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-115078"/>
            <a:ext cx="830424" cy="721568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sp>
        <p:nvSpPr>
          <p:cNvPr id="19" name="Rectangle: Top Corners Rounded 18">
            <a:extLst>
              <a:ext uri="{FF2B5EF4-FFF2-40B4-BE49-F238E27FC236}">
                <a16:creationId xmlns:a16="http://schemas.microsoft.com/office/drawing/2014/main" id="{00C75960-A60A-2820-673E-42936F167829}"/>
              </a:ext>
            </a:extLst>
          </p:cNvPr>
          <p:cNvSpPr/>
          <p:nvPr/>
        </p:nvSpPr>
        <p:spPr>
          <a:xfrm rot="16200000">
            <a:off x="6829426" y="838200"/>
            <a:ext cx="5219699" cy="5505447"/>
          </a:xfrm>
          <a:prstGeom prst="round2SameRect">
            <a:avLst>
              <a:gd name="adj1" fmla="val 8820"/>
              <a:gd name="adj2" fmla="val 0"/>
            </a:avLst>
          </a:prstGeom>
          <a:solidFill>
            <a:srgbClr val="FAA93A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422BC92D-9FE1-8FE8-840B-9647FEEEC5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9535" y="6369698"/>
            <a:ext cx="1452464" cy="488302"/>
          </a:xfrm>
          <a:prstGeom prst="rect">
            <a:avLst/>
          </a:prstGeom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20951807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96000">
              <a:srgbClr val="FAA93A"/>
            </a:gs>
            <a:gs pos="74000">
              <a:schemeClr val="accent1">
                <a:lumMod val="45000"/>
                <a:lumOff val="55000"/>
              </a:schemeClr>
            </a:gs>
            <a:gs pos="89000">
              <a:schemeClr val="accent1">
                <a:lumMod val="45000"/>
                <a:lumOff val="55000"/>
              </a:schemeClr>
            </a:gs>
            <a:gs pos="4587">
              <a:srgbClr val="FAA93A"/>
            </a:gs>
            <a:gs pos="15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88948AC-0581-83FD-7323-BB93F22BE916}"/>
              </a:ext>
            </a:extLst>
          </p:cNvPr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gradFill>
            <a:gsLst>
              <a:gs pos="0">
                <a:srgbClr val="6E98B5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rgbClr val="6E98B5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2711514-37BB-66A9-7885-6A6446A25E5F}"/>
              </a:ext>
            </a:extLst>
          </p:cNvPr>
          <p:cNvSpPr/>
          <p:nvPr/>
        </p:nvSpPr>
        <p:spPr>
          <a:xfrm>
            <a:off x="0" y="457200"/>
            <a:ext cx="12192000" cy="62204"/>
          </a:xfrm>
          <a:prstGeom prst="rect">
            <a:avLst/>
          </a:prstGeom>
          <a:solidFill>
            <a:srgbClr val="6E98B5"/>
          </a:solidFill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B9E504B-CCE3-D6BB-D9A0-0A99A0D9249F}"/>
              </a:ext>
            </a:extLst>
          </p:cNvPr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gradFill>
            <a:gsLst>
              <a:gs pos="0">
                <a:srgbClr val="6E98B5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rgbClr val="6E98B5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D247AF4-023E-5D52-087E-87D732681E49}"/>
              </a:ext>
            </a:extLst>
          </p:cNvPr>
          <p:cNvSpPr/>
          <p:nvPr/>
        </p:nvSpPr>
        <p:spPr>
          <a:xfrm>
            <a:off x="0" y="6369698"/>
            <a:ext cx="12192000" cy="62204"/>
          </a:xfrm>
          <a:prstGeom prst="rect">
            <a:avLst/>
          </a:prstGeom>
          <a:solidFill>
            <a:srgbClr val="6E98B5"/>
          </a:solidFill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82D847-2771-E964-C654-0FEB25090CEE}"/>
              </a:ext>
            </a:extLst>
          </p:cNvPr>
          <p:cNvSpPr txBox="1"/>
          <p:nvPr/>
        </p:nvSpPr>
        <p:spPr>
          <a:xfrm>
            <a:off x="933450" y="14873"/>
            <a:ext cx="42767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Bahnschrift Condensed" panose="020B0502040204020203" pitchFamily="34" charset="0"/>
                <a:cs typeface="AngsanaUPC" panose="020B0502040204020203" pitchFamily="18" charset="-34"/>
              </a:rPr>
              <a:t>HR Report: Headcount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A76E4D1-DF69-F258-C39E-31DDF8287D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7881" y="6416351"/>
            <a:ext cx="2164119" cy="457200"/>
          </a:xfrm>
          <a:prstGeom prst="rect">
            <a:avLst/>
          </a:prstGeom>
        </p:spPr>
      </p:pic>
      <p:pic>
        <p:nvPicPr>
          <p:cNvPr id="10" name="Graphic 9" descr="Children with solid fill">
            <a:extLst>
              <a:ext uri="{FF2B5EF4-FFF2-40B4-BE49-F238E27FC236}">
                <a16:creationId xmlns:a16="http://schemas.microsoft.com/office/drawing/2014/main" id="{8C2BB35A-4315-59C2-DDB9-D17157A185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-115078"/>
            <a:ext cx="830424" cy="721568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sp>
        <p:nvSpPr>
          <p:cNvPr id="19" name="Rectangle: Top Corners Rounded 18">
            <a:extLst>
              <a:ext uri="{FF2B5EF4-FFF2-40B4-BE49-F238E27FC236}">
                <a16:creationId xmlns:a16="http://schemas.microsoft.com/office/drawing/2014/main" id="{A94B4446-8F83-1ECA-0640-0E3B00650C4B}"/>
              </a:ext>
            </a:extLst>
          </p:cNvPr>
          <p:cNvSpPr/>
          <p:nvPr/>
        </p:nvSpPr>
        <p:spPr>
          <a:xfrm rot="16200000">
            <a:off x="6829426" y="838200"/>
            <a:ext cx="5219699" cy="5505447"/>
          </a:xfrm>
          <a:prstGeom prst="round2SameRect">
            <a:avLst>
              <a:gd name="adj1" fmla="val 8820"/>
              <a:gd name="adj2" fmla="val 0"/>
            </a:avLst>
          </a:prstGeom>
          <a:solidFill>
            <a:srgbClr val="FAA93A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044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96000">
              <a:srgbClr val="FAA93A"/>
            </a:gs>
            <a:gs pos="74000">
              <a:schemeClr val="accent1">
                <a:lumMod val="45000"/>
                <a:lumOff val="55000"/>
              </a:schemeClr>
            </a:gs>
            <a:gs pos="89000">
              <a:schemeClr val="accent1">
                <a:lumMod val="45000"/>
                <a:lumOff val="55000"/>
              </a:schemeClr>
            </a:gs>
            <a:gs pos="4587">
              <a:srgbClr val="FAA93A"/>
            </a:gs>
            <a:gs pos="15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25AEEB-F972-126E-8F91-3DC127CE4C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D752E54-33C6-F2E0-3B94-3023472FD0F4}"/>
              </a:ext>
            </a:extLst>
          </p:cNvPr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gradFill>
            <a:gsLst>
              <a:gs pos="0">
                <a:srgbClr val="6E98B5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rgbClr val="6E98B5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F4288EF-5876-2B8F-F5D2-155F22DF9613}"/>
              </a:ext>
            </a:extLst>
          </p:cNvPr>
          <p:cNvSpPr/>
          <p:nvPr/>
        </p:nvSpPr>
        <p:spPr>
          <a:xfrm>
            <a:off x="0" y="457200"/>
            <a:ext cx="12192000" cy="62204"/>
          </a:xfrm>
          <a:prstGeom prst="rect">
            <a:avLst/>
          </a:prstGeom>
          <a:solidFill>
            <a:srgbClr val="6E98B5"/>
          </a:solidFill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C6C65D9-8BB1-6F17-2B50-2AB853FE2113}"/>
              </a:ext>
            </a:extLst>
          </p:cNvPr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gradFill>
            <a:gsLst>
              <a:gs pos="0">
                <a:srgbClr val="6E98B5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rgbClr val="6E98B5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93E202B-10E6-852E-D252-BAF647E8DEDB}"/>
              </a:ext>
            </a:extLst>
          </p:cNvPr>
          <p:cNvSpPr/>
          <p:nvPr/>
        </p:nvSpPr>
        <p:spPr>
          <a:xfrm>
            <a:off x="0" y="6369698"/>
            <a:ext cx="12192000" cy="62204"/>
          </a:xfrm>
          <a:prstGeom prst="rect">
            <a:avLst/>
          </a:prstGeom>
          <a:solidFill>
            <a:srgbClr val="6E98B5"/>
          </a:solidFill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68EF98-16E8-0464-1C9C-566902F5EB65}"/>
              </a:ext>
            </a:extLst>
          </p:cNvPr>
          <p:cNvSpPr txBox="1"/>
          <p:nvPr/>
        </p:nvSpPr>
        <p:spPr>
          <a:xfrm>
            <a:off x="914400" y="14873"/>
            <a:ext cx="42767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Bahnschrift Condensed" panose="020B0502040204020203" pitchFamily="34" charset="0"/>
                <a:cs typeface="AngsanaUPC" panose="020B0502040204020203" pitchFamily="18" charset="-34"/>
              </a:rPr>
              <a:t>HR Report: Employee Retention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0D80EAC-FC16-CE29-AC1C-388AF22D38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7881" y="6416351"/>
            <a:ext cx="2164119" cy="457200"/>
          </a:xfrm>
          <a:prstGeom prst="rect">
            <a:avLst/>
          </a:prstGeom>
        </p:spPr>
      </p:pic>
      <p:pic>
        <p:nvPicPr>
          <p:cNvPr id="10" name="Graphic 9" descr="Children with solid fill">
            <a:extLst>
              <a:ext uri="{FF2B5EF4-FFF2-40B4-BE49-F238E27FC236}">
                <a16:creationId xmlns:a16="http://schemas.microsoft.com/office/drawing/2014/main" id="{8767C1FC-46AB-9824-98B0-4936E10AB5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-115078"/>
            <a:ext cx="830424" cy="721568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sp>
        <p:nvSpPr>
          <p:cNvPr id="19" name="Rectangle: Top Corners Rounded 18">
            <a:extLst>
              <a:ext uri="{FF2B5EF4-FFF2-40B4-BE49-F238E27FC236}">
                <a16:creationId xmlns:a16="http://schemas.microsoft.com/office/drawing/2014/main" id="{B4094FF3-A6F5-8C08-581C-E1A204CC9074}"/>
              </a:ext>
            </a:extLst>
          </p:cNvPr>
          <p:cNvSpPr/>
          <p:nvPr/>
        </p:nvSpPr>
        <p:spPr>
          <a:xfrm rot="16200000">
            <a:off x="6829426" y="838200"/>
            <a:ext cx="5219699" cy="5505447"/>
          </a:xfrm>
          <a:prstGeom prst="round2SameRect">
            <a:avLst>
              <a:gd name="adj1" fmla="val 8820"/>
              <a:gd name="adj2" fmla="val 0"/>
            </a:avLst>
          </a:prstGeom>
          <a:solidFill>
            <a:srgbClr val="FAA93A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9007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96000">
              <a:srgbClr val="FAA93A"/>
            </a:gs>
            <a:gs pos="74000">
              <a:schemeClr val="accent1">
                <a:lumMod val="45000"/>
                <a:lumOff val="55000"/>
              </a:schemeClr>
            </a:gs>
            <a:gs pos="89000">
              <a:schemeClr val="accent1">
                <a:lumMod val="45000"/>
                <a:lumOff val="55000"/>
              </a:schemeClr>
            </a:gs>
            <a:gs pos="4587">
              <a:srgbClr val="FAA93A"/>
            </a:gs>
            <a:gs pos="15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3973D9-0753-84F4-8A04-63C92B16B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2176518-74FB-863F-3C8C-752F0CF854CD}"/>
              </a:ext>
            </a:extLst>
          </p:cNvPr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gradFill>
            <a:gsLst>
              <a:gs pos="0">
                <a:srgbClr val="6E98B5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rgbClr val="6E98B5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F7F6859-8F24-BC1E-E4E9-C539301A3352}"/>
              </a:ext>
            </a:extLst>
          </p:cNvPr>
          <p:cNvSpPr/>
          <p:nvPr/>
        </p:nvSpPr>
        <p:spPr>
          <a:xfrm>
            <a:off x="0" y="457200"/>
            <a:ext cx="12192000" cy="62204"/>
          </a:xfrm>
          <a:prstGeom prst="rect">
            <a:avLst/>
          </a:prstGeom>
          <a:solidFill>
            <a:srgbClr val="6E98B5"/>
          </a:solidFill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5FAB357-B1FA-4A8E-D8D8-AC39D1E26CC2}"/>
              </a:ext>
            </a:extLst>
          </p:cNvPr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gradFill>
            <a:gsLst>
              <a:gs pos="0">
                <a:srgbClr val="6E98B5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rgbClr val="6E98B5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CDDED8E-B051-90E6-3043-8FB2A3BFC51F}"/>
              </a:ext>
            </a:extLst>
          </p:cNvPr>
          <p:cNvSpPr/>
          <p:nvPr/>
        </p:nvSpPr>
        <p:spPr>
          <a:xfrm>
            <a:off x="0" y="6369698"/>
            <a:ext cx="12192000" cy="62204"/>
          </a:xfrm>
          <a:prstGeom prst="rect">
            <a:avLst/>
          </a:prstGeom>
          <a:solidFill>
            <a:srgbClr val="6E98B5"/>
          </a:solidFill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DEEFB8-86FC-95E8-665F-9477D9D90D1E}"/>
              </a:ext>
            </a:extLst>
          </p:cNvPr>
          <p:cNvSpPr txBox="1"/>
          <p:nvPr/>
        </p:nvSpPr>
        <p:spPr>
          <a:xfrm>
            <a:off x="830424" y="-4469"/>
            <a:ext cx="42767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Bahnschrift Condensed" panose="020B0502040204020203" pitchFamily="34" charset="0"/>
                <a:cs typeface="AngsanaUPC" panose="020B0502040204020203" pitchFamily="18" charset="-34"/>
              </a:rPr>
              <a:t>HR Report: Employee Turnover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025427A-E8D2-BFB0-286D-FC397D1120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7881" y="6416351"/>
            <a:ext cx="2164119" cy="457200"/>
          </a:xfrm>
          <a:prstGeom prst="rect">
            <a:avLst/>
          </a:prstGeom>
        </p:spPr>
      </p:pic>
      <p:pic>
        <p:nvPicPr>
          <p:cNvPr id="10" name="Graphic 9" descr="Children with solid fill">
            <a:extLst>
              <a:ext uri="{FF2B5EF4-FFF2-40B4-BE49-F238E27FC236}">
                <a16:creationId xmlns:a16="http://schemas.microsoft.com/office/drawing/2014/main" id="{305DF658-3CF4-7E9A-D328-3B0EA6D54D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-115078"/>
            <a:ext cx="830424" cy="721568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sp>
        <p:nvSpPr>
          <p:cNvPr id="19" name="Rectangle: Top Corners Rounded 18">
            <a:extLst>
              <a:ext uri="{FF2B5EF4-FFF2-40B4-BE49-F238E27FC236}">
                <a16:creationId xmlns:a16="http://schemas.microsoft.com/office/drawing/2014/main" id="{440DB29E-F795-0314-0CD9-1054F9B45178}"/>
              </a:ext>
            </a:extLst>
          </p:cNvPr>
          <p:cNvSpPr/>
          <p:nvPr/>
        </p:nvSpPr>
        <p:spPr>
          <a:xfrm rot="16200000">
            <a:off x="6829426" y="838200"/>
            <a:ext cx="5219699" cy="5505447"/>
          </a:xfrm>
          <a:prstGeom prst="round2SameRect">
            <a:avLst>
              <a:gd name="adj1" fmla="val 8820"/>
              <a:gd name="adj2" fmla="val 0"/>
            </a:avLst>
          </a:prstGeom>
          <a:solidFill>
            <a:srgbClr val="FAA93A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7995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</TotalTime>
  <Words>111</Words>
  <Application>Microsoft Office PowerPoint</Application>
  <PresentationFormat>Widescreen</PresentationFormat>
  <Paragraphs>10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Bahnschrift Condensed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Konstantinos Chatzis</dc:creator>
  <cp:lastModifiedBy>Konstantinos Chatzis</cp:lastModifiedBy>
  <cp:revision>4</cp:revision>
  <dcterms:created xsi:type="dcterms:W3CDTF">2026-02-02T07:38:50Z</dcterms:created>
  <dcterms:modified xsi:type="dcterms:W3CDTF">2026-02-09T16:35:55Z</dcterms:modified>
</cp:coreProperties>
</file>